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731520"/>
            <a:ext cx="2103120" cy="2103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A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SESSION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5760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Risk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Compliance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40080" y="25146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1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(GRC)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40080" y="3108960"/>
            <a:ext cx="5029200" cy="457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Introduction to Cybersecurity's Strategic Framework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4572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Bharati  | 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What is Cybersecurity?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9844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is the practice of protecting computers, networks, programs, and data from digital attacks, unauthorized access, and damage.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2377440"/>
            <a:ext cx="27432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377440"/>
            <a:ext cx="2743200" cy="109728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1460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31272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11480" y="352044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authorized people can access sensitive data.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Real Life: Your bank PIN is known only to you.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00400" y="2377440"/>
            <a:ext cx="27432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2377440"/>
            <a:ext cx="2743200" cy="109728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251460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91840" y="31272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337560" y="352044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accurate and unaltered.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Real Life: Medical records can't be tampered with.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126480" y="2377440"/>
            <a:ext cx="27432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2377440"/>
            <a:ext cx="2743200" cy="109728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2514600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17920" y="31272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263640" y="352044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are up and accessible when needed.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Real Life: ATM working 24/7 without downtime.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Why Does Cybersecurity Matter?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3840480" cy="16459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32588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A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$9.5 Trillion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global cybercrime cost in 2024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(Source: Cybersecurity Ventures)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170432"/>
            <a:ext cx="43891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0" y="1170432"/>
            <a:ext cx="91440" cy="804672"/>
          </a:xfrm>
          <a:prstGeom prst="rect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353312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120640" y="124358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120640" y="15727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Ransomware locks hospital files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89120" y="2130552"/>
            <a:ext cx="43891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89120" y="2130552"/>
            <a:ext cx="91440" cy="804672"/>
          </a:xfrm>
          <a:prstGeom prst="rect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313432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20640" y="22037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120640" y="253288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Fake email steals your password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389120" y="3090672"/>
            <a:ext cx="43891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389120" y="3090672"/>
            <a:ext cx="91440" cy="804672"/>
          </a:xfrm>
          <a:prstGeom prst="rect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273552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20640" y="316382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Breach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120640" y="349300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Millions of credit cards stolen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389120" y="4050792"/>
            <a:ext cx="43891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389120" y="4050792"/>
            <a:ext cx="91440" cy="804672"/>
          </a:xfrm>
          <a:prstGeom prst="rect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233672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120640" y="412394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Threats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120640" y="44531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Disgruntled employee leaks data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828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9436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4A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· Risk Management · Compliance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8321040" cy="100584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822960" cy="822960"/>
          </a:xfrm>
          <a:prstGeom prst="ellipse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00200" y="173736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— The system of rules, policies, and processes by which an organization directs and controls its operations.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00200" y="21945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A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A company creates a cybersecurity policy stating all employees must use strong passwords and 2FA.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788920"/>
            <a:ext cx="8321040" cy="100584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880360"/>
            <a:ext cx="822960" cy="82296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80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600200" y="283464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— The process of identifying, assessing, and controlling threats to an organization's digital assets.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00200" y="32918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A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A bank identifies that its online portal could be hacked and adds extra security layers.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3886200"/>
            <a:ext cx="8321040" cy="100584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977640"/>
            <a:ext cx="822960" cy="8229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977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600200" y="393192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— Following laws, regulations, and standards set by authorities (like GDPR, HIPAA, ISO 27001).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00200" y="43891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A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A hospital ensures all patient data is encrypted to comply with HIPAA regulations.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GRC as the Backbone of Cybersecurity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8595360" cy="804672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34440"/>
            <a:ext cx="8229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Think of it this way: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is your house's security system. GRC is the blueprint, maintenance plan, and insurance policy combined — it ensures the system is designed right, risks are managed, and all legal rules are followed.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2194560"/>
            <a:ext cx="1920240" cy="11887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2240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Identify Assets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Threats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67128" y="260604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441448" y="2194560"/>
            <a:ext cx="1920240" cy="11887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87168" y="2240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Assess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Risks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79976" y="260604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654296" y="2194560"/>
            <a:ext cx="1920240" cy="1188720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0016" y="2240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Apply Controls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Policies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92824" y="260604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867144" y="2194560"/>
            <a:ext cx="1920240" cy="1188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12864" y="2240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Monitor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566160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3602736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🔷 Governance sets the RULES → defines who is responsible for cybersecurity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74320" y="4078224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411480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🔶 Risk Management finds the GAPS → identifies weaknesses before hackers do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74320" y="4590288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4626864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Compliance ensures ACCOUNTABILITY → proves you follow laws &amp; regulations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828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TRENDING TOPIC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475488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ISO 27001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6276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Organization for Standardization 27001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057400"/>
            <a:ext cx="8321040" cy="82296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121408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What is it?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is a globally recognized standard that tells organizations HOW to manage information security risks using a structured framework called ISMS (Information Security Management System).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3063240"/>
            <a:ext cx="1874520" cy="1783080"/>
          </a:xfrm>
          <a:prstGeom prst="rect">
            <a:avLst/>
          </a:prstGeom>
          <a:solidFill>
            <a:srgbClr val="1B2E45"/>
          </a:solidFill>
          <a:ln w="12700">
            <a:solidFill>
              <a:srgbClr val="1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20140" y="3127248"/>
            <a:ext cx="822960" cy="822960"/>
          </a:xfrm>
          <a:prstGeom prst="ellipse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0140" y="312724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400507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352544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assets (data, systems, people)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79192" y="3063240"/>
            <a:ext cx="1874520" cy="1783080"/>
          </a:xfrm>
          <a:prstGeom prst="rect">
            <a:avLst/>
          </a:prstGeom>
          <a:solidFill>
            <a:srgbClr val="1B2E45"/>
          </a:solidFill>
          <a:ln w="12700">
            <a:solidFill>
              <a:srgbClr val="1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4972" y="3127248"/>
            <a:ext cx="822960" cy="822960"/>
          </a:xfrm>
          <a:prstGeom prst="ellipse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4972" y="312724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724912" y="400507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24912" y="4352544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likelihood &amp; impact of threats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64024" y="3063240"/>
            <a:ext cx="1874520" cy="1783080"/>
          </a:xfrm>
          <a:prstGeom prst="rect">
            <a:avLst/>
          </a:prstGeom>
          <a:solidFill>
            <a:srgbClr val="1B2E45"/>
          </a:solidFill>
          <a:ln w="12700">
            <a:solidFill>
              <a:srgbClr val="1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89804" y="3127248"/>
            <a:ext cx="822960" cy="822960"/>
          </a:xfrm>
          <a:prstGeom prst="ellipse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89804" y="312724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09744" y="400507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9744" y="4352544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Accept, avoid, reduce, or transfer risk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48856" y="3063240"/>
            <a:ext cx="1874520" cy="1783080"/>
          </a:xfrm>
          <a:prstGeom prst="rect">
            <a:avLst/>
          </a:prstGeom>
          <a:solidFill>
            <a:srgbClr val="1B2E45"/>
          </a:solidFill>
          <a:ln w="12700">
            <a:solidFill>
              <a:srgbClr val="1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74636" y="3127248"/>
            <a:ext cx="822960" cy="822960"/>
          </a:xfrm>
          <a:prstGeom prst="ellipse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74636" y="312724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94576" y="400507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94576" y="4352544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review &amp; improve controls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Real-Life GRC in Action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595360" cy="1143000"/>
          </a:xfrm>
          <a:prstGeom prst="rect">
            <a:avLst/>
          </a:prstGeom>
          <a:solidFill>
            <a:srgbClr val="E8F5E9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109728" cy="11430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6187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Healthcare — HIPAA Compliance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361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D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 stores patient records digitally.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1755648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G: Policy to restrict access to authorized doctors only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Risk of data breach → encrypt all records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HIPAA law requires patient data protection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852160" y="1572768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Patient trust maintained, zero data leaks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468880"/>
            <a:ext cx="8595360" cy="1143000"/>
          </a:xfrm>
          <a:prstGeom prst="rect">
            <a:avLst/>
          </a:prstGeom>
          <a:solidFill>
            <a:srgbClr val="E3F2FD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468880"/>
            <a:ext cx="109728" cy="11430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54203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Banking — ISO 27001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28163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D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 launches a new mobile app.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3035808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G: Secure coding policy enforced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Risk assessment on app vulnerabilities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RBI &amp; PCI-DSS compliance achieved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852160" y="2852928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Secure app launched with regulator approval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749040"/>
            <a:ext cx="8595360" cy="1143000"/>
          </a:xfrm>
          <a:prstGeom prst="rect">
            <a:avLst/>
          </a:prstGeom>
          <a:solidFill>
            <a:srgbClr val="FFF3E0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749040"/>
            <a:ext cx="109728" cy="11430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82219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Retail — GDPR (EU Data Law)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40965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D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stores European customer data.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" y="4315968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G: Data minimization policy adopted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Risk of EU fines ($20M+) identified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GDPR compliance ensures legal operation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852160" y="4133088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Avoids fines, builds customer confidence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Key GRC Frameworks &amp; Certifications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2697480" cy="128016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7160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1810512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Security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Global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64408" y="118872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1188720"/>
            <a:ext cx="2697480" cy="12801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37160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55848" y="1810512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55848" y="237744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USA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08776" y="118872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08776" y="1188720"/>
            <a:ext cx="2697480" cy="128016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137160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00216" y="1810512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Data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Regulation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00216" y="237744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European Union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97180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971800"/>
            <a:ext cx="2697480" cy="12801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15468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11480" y="3593592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Insurance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 Act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11480" y="416052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USA Healthcare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64408" y="297180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64408" y="2971800"/>
            <a:ext cx="2697480" cy="128016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55848" y="315468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SOX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355848" y="3593592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Sarbanes-Oxley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355848" y="416052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USA Financial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08776" y="297180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08776" y="2971800"/>
            <a:ext cx="2697480" cy="12801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0216" y="315468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PCI-DSS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300216" y="3593592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Card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300216" y="416052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Global Finance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27432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1828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94360" y="1005840"/>
            <a:ext cx="8321040" cy="566928"/>
          </a:xfrm>
          <a:prstGeom prst="rect">
            <a:avLst/>
          </a:prstGeom>
          <a:solidFill>
            <a:srgbClr val="1B2E45"/>
          </a:solidFill>
          <a:ln w="12700">
            <a:solidFill>
              <a:srgbClr val="1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060704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Cybersecurity = Protecting digital assets from threats (CIA Triad)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94360" y="1664208"/>
            <a:ext cx="8321040" cy="566928"/>
          </a:xfrm>
          <a:prstGeom prst="rect">
            <a:avLst/>
          </a:prstGeom>
          <a:solidFill>
            <a:srgbClr val="1B2E45"/>
          </a:solidFill>
          <a:ln w="12700">
            <a:solidFill>
              <a:srgbClr val="1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17190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GRC stands for Governance, Risk Management &amp; Compliance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94360" y="2322576"/>
            <a:ext cx="8321040" cy="566928"/>
          </a:xfrm>
          <a:prstGeom prst="rect">
            <a:avLst/>
          </a:prstGeom>
          <a:solidFill>
            <a:srgbClr val="1B2E45"/>
          </a:solidFill>
          <a:ln w="12700">
            <a:solidFill>
              <a:srgbClr val="1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31520" y="23774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GRC is the strategic framework that makes cybersecurity work at scale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94360" y="2980944"/>
            <a:ext cx="8321040" cy="566928"/>
          </a:xfrm>
          <a:prstGeom prst="rect">
            <a:avLst/>
          </a:prstGeom>
          <a:solidFill>
            <a:srgbClr val="1B2E45"/>
          </a:solidFill>
          <a:ln w="12700">
            <a:solidFill>
              <a:srgbClr val="1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31520" y="303580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Risk Management (ISO 27001) helps identify &amp; reduce threats before damage occurs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94360" y="3639312"/>
            <a:ext cx="8321040" cy="566928"/>
          </a:xfrm>
          <a:prstGeom prst="rect">
            <a:avLst/>
          </a:prstGeom>
          <a:solidFill>
            <a:srgbClr val="1B2E45"/>
          </a:solidFill>
          <a:ln w="12700">
            <a:solidFill>
              <a:srgbClr val="1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31520" y="3694176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Compliance ensures legal accountability — HIPAA, GDPR, PCI-DSS are common standards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94360" y="4297680"/>
            <a:ext cx="8321040" cy="566928"/>
          </a:xfrm>
          <a:prstGeom prst="rect">
            <a:avLst/>
          </a:prstGeom>
          <a:solidFill>
            <a:srgbClr val="1B2E45"/>
          </a:solidFill>
          <a:ln w="12700">
            <a:solidFill>
              <a:srgbClr val="1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31520" y="4352544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A GRC Consultant helps organizations build these systems and stay secure &amp; compliant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94360" y="4754880"/>
            <a:ext cx="8321040" cy="2743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" y="476402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Questions &amp; Discussion Welcome  🙏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GRC – Governance, Risk &amp; Compliance</dc:title>
  <dc:subject>PptxGenJS Presentation</dc:subject>
  <dc:creator>PptxGenJS</dc:creator>
  <cp:lastModifiedBy>PptxGenJS</cp:lastModifiedBy>
  <cp:revision>1</cp:revision>
  <dcterms:created xsi:type="dcterms:W3CDTF">2026-06-07T05:40:33Z</dcterms:created>
  <dcterms:modified xsi:type="dcterms:W3CDTF">2026-06-07T05:40:33Z</dcterms:modified>
</cp:coreProperties>
</file>